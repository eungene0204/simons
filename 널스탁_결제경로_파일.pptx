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685800"/>
            <a:ext cx="10725912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500" b="1">
                <a:solidFill>
                  <a:srgbClr val="3182F6"/>
                </a:solidFill>
                <a:latin typeface="Apple SD Gothic Neo"/>
                <a:ea typeface="Apple SD Gothic Neo"/>
              </a:rPr>
              <a:t>카드사 심사용 결제경로 파일</a:t>
            </a:r>
          </a:p>
          <a:p>
            <a:pPr algn="ctr"/>
            <a:r>
              <a:rPr sz="4000" b="1">
                <a:solidFill>
                  <a:srgbClr val="1A1A1A"/>
                </a:solidFill>
                <a:latin typeface="Apple SD Gothic Neo"/>
                <a:ea typeface="Apple SD Gothic Neo"/>
              </a:rPr>
              <a:t>널스탁 (nullstock.im)</a:t>
            </a:r>
          </a:p>
          <a:p>
            <a:pPr algn="ctr"/>
            <a:r>
              <a:rPr sz="1300" b="0">
                <a:solidFill>
                  <a:srgbClr val="6B7280"/>
                </a:solidFill>
                <a:latin typeface="Apple SD Gothic Neo"/>
                <a:ea typeface="Apple SD Gothic Neo"/>
              </a:rPr>
              <a:t>사용자가 직접 투자 전략을 설계·백테스트·시뮬레이션하는 투자 연구 플랫폼 — 유료 구독 플랜(무형 디지털 서비스)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1554480" y="2423160"/>
            <a:ext cx="9079992" cy="3291840"/>
          </a:xfrm>
          <a:prstGeom prst="roundRect">
            <a:avLst>
              <a:gd name="adj" fmla="val 6000"/>
            </a:avLst>
          </a:prstGeom>
          <a:solidFill>
            <a:srgbClr val="F7F9FC"/>
          </a:solidFill>
          <a:ln w="12700">
            <a:solidFill>
              <a:srgbClr val="D8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965960" y="2697480"/>
            <a:ext cx="8321040" cy="2834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2B4A9B"/>
                </a:solidFill>
                <a:latin typeface="Apple SD Gothic Neo"/>
                <a:ea typeface="Apple SD Gothic Neo"/>
              </a:rPr>
              <a:t>(1) 상호명   </a:t>
            </a:r>
            <a:r>
              <a:rPr sz="1500" b="1">
                <a:solidFill>
                  <a:srgbClr val="6B7280"/>
                </a:solidFill>
                <a:latin typeface="Apple SD Gothic Neo"/>
                <a:ea typeface="Apple SD Gothic Neo"/>
              </a:rPr>
              <a:t>  :  </a:t>
            </a:r>
            <a:r>
              <a:rPr sz="1500" b="0">
                <a:solidFill>
                  <a:srgbClr val="1A1A1A"/>
                </a:solidFill>
                <a:latin typeface="Apple SD Gothic Neo"/>
                <a:ea typeface="Apple SD Gothic Neo"/>
              </a:rPr>
              <a:t>널스페이스</a:t>
            </a:r>
          </a:p>
          <a:p>
            <a:pPr algn="l"/>
            <a:r>
              <a:rPr sz="1500" b="1">
                <a:solidFill>
                  <a:srgbClr val="2B4A9B"/>
                </a:solidFill>
                <a:latin typeface="Apple SD Gothic Neo"/>
                <a:ea typeface="Apple SD Gothic Neo"/>
              </a:rPr>
              <a:t>(2) 사업자번호 </a:t>
            </a:r>
            <a:r>
              <a:rPr sz="1500" b="1">
                <a:solidFill>
                  <a:srgbClr val="6B7280"/>
                </a:solidFill>
                <a:latin typeface="Apple SD Gothic Neo"/>
                <a:ea typeface="Apple SD Gothic Neo"/>
              </a:rPr>
              <a:t>  :  </a:t>
            </a:r>
            <a:r>
              <a:rPr sz="1500" b="0">
                <a:solidFill>
                  <a:srgbClr val="1A1A1A"/>
                </a:solidFill>
                <a:latin typeface="Apple SD Gothic Neo"/>
                <a:ea typeface="Apple SD Gothic Neo"/>
              </a:rPr>
              <a:t>898-50-00737</a:t>
            </a:r>
          </a:p>
          <a:p>
            <a:pPr algn="l"/>
            <a:r>
              <a:rPr sz="1500" b="1">
                <a:solidFill>
                  <a:srgbClr val="2B4A9B"/>
                </a:solidFill>
                <a:latin typeface="Apple SD Gothic Neo"/>
                <a:ea typeface="Apple SD Gothic Neo"/>
              </a:rPr>
              <a:t>(3) URL   </a:t>
            </a:r>
            <a:r>
              <a:rPr sz="1500" b="1">
                <a:solidFill>
                  <a:srgbClr val="6B7280"/>
                </a:solidFill>
                <a:latin typeface="Apple SD Gothic Neo"/>
                <a:ea typeface="Apple SD Gothic Neo"/>
              </a:rPr>
              <a:t>  :  </a:t>
            </a:r>
            <a:r>
              <a:rPr sz="1500" b="0">
                <a:solidFill>
                  <a:srgbClr val="1A1A1A"/>
                </a:solidFill>
                <a:latin typeface="Apple SD Gothic Neo"/>
                <a:ea typeface="Apple SD Gothic Neo"/>
              </a:rPr>
              <a:t>https://nullstock.im</a:t>
            </a:r>
          </a:p>
          <a:p>
            <a:pPr algn="l"/>
            <a:r>
              <a:rPr sz="1500" b="1">
                <a:solidFill>
                  <a:srgbClr val="2B4A9B"/>
                </a:solidFill>
                <a:latin typeface="Apple SD Gothic Neo"/>
                <a:ea typeface="Apple SD Gothic Neo"/>
              </a:rPr>
              <a:t>(4) 테스트 계정</a:t>
            </a:r>
            <a:r>
              <a:rPr sz="1500" b="1">
                <a:solidFill>
                  <a:srgbClr val="6B7280"/>
                </a:solidFill>
                <a:latin typeface="Apple SD Gothic Neo"/>
                <a:ea typeface="Apple SD Gothic Neo"/>
              </a:rPr>
              <a:t>  :  </a:t>
            </a:r>
            <a:r>
              <a:rPr sz="1500" b="0">
                <a:solidFill>
                  <a:srgbClr val="1A1A1A"/>
                </a:solidFill>
                <a:latin typeface="Apple SD Gothic Neo"/>
                <a:ea typeface="Apple SD Gothic Neo"/>
              </a:rPr>
              <a:t>Google 소셜 로그인 (별도 ID/PW 없는 소셜 로그인 방식 — 심사용 테스트 계정 요청 시 별도 제공)</a:t>
            </a:r>
          </a:p>
          <a:p>
            <a:pPr algn="l"/>
            <a:r>
              <a:rPr sz="1500" b="1">
                <a:solidFill>
                  <a:srgbClr val="2B4A9B"/>
                </a:solidFill>
                <a:latin typeface="Apple SD Gothic Neo"/>
                <a:ea typeface="Apple SD Gothic Neo"/>
              </a:rPr>
              <a:t>대표자명      </a:t>
            </a:r>
            <a:r>
              <a:rPr sz="1500" b="1">
                <a:solidFill>
                  <a:srgbClr val="6B7280"/>
                </a:solidFill>
                <a:latin typeface="Apple SD Gothic Neo"/>
                <a:ea typeface="Apple SD Gothic Neo"/>
              </a:rPr>
              <a:t>  :  </a:t>
            </a:r>
            <a:r>
              <a:rPr sz="1500" b="0">
                <a:solidFill>
                  <a:srgbClr val="1A1A1A"/>
                </a:solidFill>
                <a:latin typeface="Apple SD Gothic Neo"/>
                <a:ea typeface="Apple SD Gothic Neo"/>
              </a:rPr>
              <a:t>이응준</a:t>
            </a:r>
          </a:p>
          <a:p>
            <a:pPr algn="l"/>
            <a:r>
              <a:rPr sz="1500" b="1">
                <a:solidFill>
                  <a:srgbClr val="2B4A9B"/>
                </a:solidFill>
                <a:latin typeface="Apple SD Gothic Neo"/>
                <a:ea typeface="Apple SD Gothic Neo"/>
              </a:rPr>
              <a:t>사업장 주소    </a:t>
            </a:r>
            <a:r>
              <a:rPr sz="1500" b="1">
                <a:solidFill>
                  <a:srgbClr val="6B7280"/>
                </a:solidFill>
                <a:latin typeface="Apple SD Gothic Neo"/>
                <a:ea typeface="Apple SD Gothic Neo"/>
              </a:rPr>
              <a:t>  :  </a:t>
            </a:r>
            <a:r>
              <a:rPr sz="1500" b="0">
                <a:solidFill>
                  <a:srgbClr val="1A1A1A"/>
                </a:solidFill>
                <a:latin typeface="Apple SD Gothic Neo"/>
                <a:ea typeface="Apple SD Gothic Neo"/>
              </a:rPr>
              <a:t>서울특별시 서대문구 이화여대7길 37, 3층 S88호(대현동)</a:t>
            </a:r>
          </a:p>
          <a:p>
            <a:pPr algn="l"/>
            <a:r>
              <a:rPr sz="1500" b="1">
                <a:solidFill>
                  <a:srgbClr val="2B4A9B"/>
                </a:solidFill>
                <a:latin typeface="Apple SD Gothic Neo"/>
                <a:ea typeface="Apple SD Gothic Neo"/>
              </a:rPr>
              <a:t>이메일       </a:t>
            </a:r>
            <a:r>
              <a:rPr sz="1500" b="1">
                <a:solidFill>
                  <a:srgbClr val="6B7280"/>
                </a:solidFill>
                <a:latin typeface="Apple SD Gothic Neo"/>
                <a:ea typeface="Apple SD Gothic Neo"/>
              </a:rPr>
              <a:t>  :  </a:t>
            </a:r>
            <a:r>
              <a:rPr sz="1500" b="0">
                <a:solidFill>
                  <a:srgbClr val="1A1A1A"/>
                </a:solidFill>
                <a:latin typeface="Apple SD Gothic Neo"/>
                <a:ea typeface="Apple SD Gothic Neo"/>
              </a:rPr>
              <a:t>nullspace.support@gmail.com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6035040"/>
            <a:ext cx="10725912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100" b="0">
                <a:solidFill>
                  <a:srgbClr val="6B7280"/>
                </a:solidFill>
                <a:latin typeface="Apple SD Gothic Neo"/>
                <a:ea typeface="Apple SD Gothic Neo"/>
              </a:rPr>
              <a:t>작성일: 2026-07-10  ·  결제수단: 토스페이먼츠 자동결제(빌링) — 신용·체크카드 정기결제  ·  월 구독형 무형 서비스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3992727" y="256032"/>
            <a:ext cx="4206240" cy="475488"/>
          </a:xfrm>
          <a:prstGeom prst="roundRect">
            <a:avLst>
              <a:gd name="adj" fmla="val 50000"/>
            </a:avLst>
          </a:prstGeom>
          <a:solidFill>
            <a:srgbClr val="4B6C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800" b="1">
                <a:solidFill>
                  <a:srgbClr val="FFFFFF"/>
                </a:solidFill>
                <a:latin typeface="Apple SD Gothic Neo"/>
                <a:ea typeface="Apple SD Gothic Neo"/>
              </a:rPr>
              <a:t>서비스 메인 화면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841248"/>
            <a:ext cx="10725912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600" b="1">
                <a:solidFill>
                  <a:srgbClr val="1A1A1A"/>
                </a:solidFill>
                <a:latin typeface="Apple SD Gothic Neo"/>
                <a:ea typeface="Apple SD Gothic Neo"/>
              </a:rPr>
              <a:t>널스탁 홈페이지 메인 — 서비스(전략 백테스트 시뮬레이션) 소개</a:t>
            </a:r>
          </a:p>
          <a:p>
            <a:pPr algn="ctr"/>
            <a:r>
              <a:rPr sz="1200" b="0">
                <a:solidFill>
                  <a:srgbClr val="6B7280"/>
                </a:solidFill>
                <a:latin typeface="Apple SD Gothic Neo"/>
                <a:ea typeface="Apple SD Gothic Neo"/>
              </a:rPr>
              <a:t>회원가입·로그인 전에도 서비스 내용과 이용약관·개인정보처리방침을 확인할 수 있습니다.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706727" y="1481328"/>
            <a:ext cx="8778240" cy="310896"/>
          </a:xfrm>
          <a:prstGeom prst="roundRect">
            <a:avLst>
              <a:gd name="adj" fmla="val 50000"/>
            </a:avLst>
          </a:prstGeom>
          <a:solidFill>
            <a:srgbClr val="F1F3F7"/>
          </a:solidFill>
          <a:ln w="9525">
            <a:solidFill>
              <a:srgbClr val="D8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0" bIns="0"/>
          <a:lstStyle/>
          <a:p>
            <a:pPr algn="ctr"/>
            <a:r>
              <a:rPr sz="1050" b="0">
                <a:solidFill>
                  <a:srgbClr val="6B7280"/>
                </a:solidFill>
                <a:latin typeface="Apple SD Gothic Neo"/>
                <a:ea typeface="Apple SD Gothic Neo"/>
              </a:rPr>
              <a:t>경로: https://nullstock.im/   ·   캡처: 2026. 7. 10. 15시 1분 48초</a:t>
            </a:r>
          </a:p>
        </p:txBody>
      </p:sp>
      <p:pic>
        <p:nvPicPr>
          <p:cNvPr id="5" name="Picture 4" descr="01_landing_to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55367" y="1874519"/>
            <a:ext cx="7680960" cy="4800600"/>
          </a:xfrm>
          <a:prstGeom prst="rect">
            <a:avLst/>
          </a:prstGeom>
          <a:ln w="12700">
            <a:solidFill>
              <a:srgbClr val="C9CFDA"/>
            </a:solidFill>
          </a:ln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3992727" y="256032"/>
            <a:ext cx="4206240" cy="475488"/>
          </a:xfrm>
          <a:prstGeom prst="roundRect">
            <a:avLst>
              <a:gd name="adj" fmla="val 50000"/>
            </a:avLst>
          </a:prstGeom>
          <a:solidFill>
            <a:srgbClr val="4B6C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800" b="1">
                <a:solidFill>
                  <a:srgbClr val="FFFFFF"/>
                </a:solidFill>
                <a:latin typeface="Apple SD Gothic Neo"/>
                <a:ea typeface="Apple SD Gothic Neo"/>
              </a:rPr>
              <a:t>② 하단 정보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841248"/>
            <a:ext cx="10725912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600" b="1">
                <a:solidFill>
                  <a:srgbClr val="1A1A1A"/>
                </a:solidFill>
                <a:latin typeface="Apple SD Gothic Neo"/>
                <a:ea typeface="Apple SD Gothic Neo"/>
              </a:rPr>
              <a:t>홈페이지 하단(footer) 사업자 정보</a:t>
            </a:r>
          </a:p>
          <a:p>
            <a:pPr algn="ctr"/>
            <a:r>
              <a:rPr sz="1200" b="0">
                <a:solidFill>
                  <a:srgbClr val="6B7280"/>
                </a:solidFill>
                <a:latin typeface="Apple SD Gothic Neo"/>
                <a:ea typeface="Apple SD Gothic Neo"/>
              </a:rPr>
              <a:t>상호명 · 사업자등록번호 · 대표자명 · 사업장 주소 · 이메일 표기 (이용약관 / 개인정보처리방침 링크 포함)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706727" y="1481328"/>
            <a:ext cx="8778240" cy="310896"/>
          </a:xfrm>
          <a:prstGeom prst="roundRect">
            <a:avLst>
              <a:gd name="adj" fmla="val 50000"/>
            </a:avLst>
          </a:prstGeom>
          <a:solidFill>
            <a:srgbClr val="F1F3F7"/>
          </a:solidFill>
          <a:ln w="9525">
            <a:solidFill>
              <a:srgbClr val="D8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0" bIns="0"/>
          <a:lstStyle/>
          <a:p>
            <a:pPr algn="ctr"/>
            <a:r>
              <a:rPr sz="1050" b="0">
                <a:solidFill>
                  <a:srgbClr val="6B7280"/>
                </a:solidFill>
                <a:latin typeface="Apple SD Gothic Neo"/>
                <a:ea typeface="Apple SD Gothic Neo"/>
              </a:rPr>
              <a:t>경로: https://nullstock.im/   ·   캡처: 2026. 7. 10. 15시 1분 50초</a:t>
            </a:r>
          </a:p>
        </p:txBody>
      </p:sp>
      <p:pic>
        <p:nvPicPr>
          <p:cNvPr id="5" name="Picture 4" descr="02_foot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55367" y="1874519"/>
            <a:ext cx="7680960" cy="4800600"/>
          </a:xfrm>
          <a:prstGeom prst="rect">
            <a:avLst/>
          </a:prstGeom>
          <a:ln w="12700">
            <a:solidFill>
              <a:srgbClr val="C9CFDA"/>
            </a:solidFill>
          </a:ln>
        </p:spPr>
      </p:pic>
      <p:sp>
        <p:nvSpPr>
          <p:cNvPr id="6" name="Rectangle 5"/>
          <p:cNvSpPr/>
          <p:nvPr/>
        </p:nvSpPr>
        <p:spPr>
          <a:xfrm>
            <a:off x="2639415" y="5979032"/>
            <a:ext cx="6912864" cy="480060"/>
          </a:xfrm>
          <a:prstGeom prst="rect">
            <a:avLst/>
          </a:prstGeom>
          <a:noFill/>
          <a:ln w="28575">
            <a:solidFill>
              <a:srgbClr val="3182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3992727" y="256032"/>
            <a:ext cx="4206240" cy="475488"/>
          </a:xfrm>
          <a:prstGeom prst="roundRect">
            <a:avLst>
              <a:gd name="adj" fmla="val 50000"/>
            </a:avLst>
          </a:prstGeom>
          <a:solidFill>
            <a:srgbClr val="4B6C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800" b="1">
                <a:solidFill>
                  <a:srgbClr val="FFFFFF"/>
                </a:solidFill>
                <a:latin typeface="Apple SD Gothic Neo"/>
                <a:ea typeface="Apple SD Gothic Neo"/>
              </a:rPr>
              <a:t>③ 환불규정 (무형상품)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841248"/>
            <a:ext cx="10725912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600" b="1">
                <a:solidFill>
                  <a:srgbClr val="1A1A1A"/>
                </a:solidFill>
                <a:latin typeface="Apple SD Gothic Neo"/>
                <a:ea typeface="Apple SD Gothic Neo"/>
              </a:rPr>
              <a:t>이용약관 제12조 (환불 정책)</a:t>
            </a:r>
          </a:p>
          <a:p>
            <a:pPr algn="ctr"/>
            <a:r>
              <a:rPr sz="1200" b="0">
                <a:solidFill>
                  <a:srgbClr val="6B7280"/>
                </a:solidFill>
                <a:latin typeface="Apple SD Gothic Neo"/>
                <a:ea typeface="Apple SD Gothic Neo"/>
              </a:rPr>
              <a:t>무형 디지털 서비스 환불 기준 · 정기결제 자동 갱신 및 해지 조건 고지 (홈페이지 &gt; 이용약관)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706727" y="1481328"/>
            <a:ext cx="8778240" cy="310896"/>
          </a:xfrm>
          <a:prstGeom prst="roundRect">
            <a:avLst>
              <a:gd name="adj" fmla="val 50000"/>
            </a:avLst>
          </a:prstGeom>
          <a:solidFill>
            <a:srgbClr val="F1F3F7"/>
          </a:solidFill>
          <a:ln w="9525">
            <a:solidFill>
              <a:srgbClr val="D8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0" bIns="0"/>
          <a:lstStyle/>
          <a:p>
            <a:pPr algn="ctr"/>
            <a:r>
              <a:rPr sz="1050" b="0">
                <a:solidFill>
                  <a:srgbClr val="6B7280"/>
                </a:solidFill>
                <a:latin typeface="Apple SD Gothic Neo"/>
                <a:ea typeface="Apple SD Gothic Neo"/>
              </a:rPr>
              <a:t>경로: https://nullstock.im/?legal=terms   ·   캡처: 2026. 7. 10. 15시 1분 53초</a:t>
            </a:r>
          </a:p>
        </p:txBody>
      </p:sp>
      <p:pic>
        <p:nvPicPr>
          <p:cNvPr id="5" name="Picture 4" descr="03_terms_refun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55367" y="1874519"/>
            <a:ext cx="7680960" cy="4800600"/>
          </a:xfrm>
          <a:prstGeom prst="rect">
            <a:avLst/>
          </a:prstGeom>
          <a:ln w="12700">
            <a:solidFill>
              <a:srgbClr val="C9CFDA"/>
            </a:solidFill>
          </a:ln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3992727" y="256032"/>
            <a:ext cx="4206240" cy="475488"/>
          </a:xfrm>
          <a:prstGeom prst="roundRect">
            <a:avLst>
              <a:gd name="adj" fmla="val 50000"/>
            </a:avLst>
          </a:prstGeom>
          <a:solidFill>
            <a:srgbClr val="4B6C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800" b="1">
                <a:solidFill>
                  <a:srgbClr val="FFFFFF"/>
                </a:solidFill>
                <a:latin typeface="Apple SD Gothic Neo"/>
                <a:ea typeface="Apple SD Gothic Neo"/>
              </a:rPr>
              <a:t>④ 로그인 / 회원가입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841248"/>
            <a:ext cx="10725912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600" b="1">
                <a:solidFill>
                  <a:srgbClr val="1A1A1A"/>
                </a:solidFill>
                <a:latin typeface="Apple SD Gothic Neo"/>
                <a:ea typeface="Apple SD Gothic Neo"/>
              </a:rPr>
              <a:t>Google 소셜 로그인 (회원가입과 로그인 경로 동일)</a:t>
            </a:r>
          </a:p>
          <a:p>
            <a:pPr algn="ctr"/>
            <a:r>
              <a:rPr sz="1200" b="0">
                <a:solidFill>
                  <a:srgbClr val="6B7280"/>
                </a:solidFill>
                <a:latin typeface="Apple SD Gothic Neo"/>
                <a:ea typeface="Apple SD Gothic Neo"/>
              </a:rPr>
              <a:t>비로그인 상태로 메뉴 진입 시 로그인 안내 모달이 표시되며, Google 계정으로 가입/로그인합니다. (별도 ID/PW 없음)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706727" y="1481328"/>
            <a:ext cx="8778240" cy="310896"/>
          </a:xfrm>
          <a:prstGeom prst="roundRect">
            <a:avLst>
              <a:gd name="adj" fmla="val 50000"/>
            </a:avLst>
          </a:prstGeom>
          <a:solidFill>
            <a:srgbClr val="F1F3F7"/>
          </a:solidFill>
          <a:ln w="9525">
            <a:solidFill>
              <a:srgbClr val="D8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0" bIns="0"/>
          <a:lstStyle/>
          <a:p>
            <a:pPr algn="ctr"/>
            <a:r>
              <a:rPr sz="1050" b="0">
                <a:solidFill>
                  <a:srgbClr val="6B7280"/>
                </a:solidFill>
                <a:latin typeface="Apple SD Gothic Neo"/>
                <a:ea typeface="Apple SD Gothic Neo"/>
              </a:rPr>
              <a:t>경로: https://nullstock.im/   ·   캡처: 2026. 7. 10. 15시 1분 56초</a:t>
            </a:r>
          </a:p>
        </p:txBody>
      </p:sp>
      <p:pic>
        <p:nvPicPr>
          <p:cNvPr id="5" name="Picture 4" descr="04_login_mod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55367" y="1874519"/>
            <a:ext cx="7680960" cy="4800600"/>
          </a:xfrm>
          <a:prstGeom prst="rect">
            <a:avLst/>
          </a:prstGeom>
          <a:ln w="12700">
            <a:solidFill>
              <a:srgbClr val="C9CFDA"/>
            </a:solidFill>
          </a:ln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3992727" y="256032"/>
            <a:ext cx="4206240" cy="475488"/>
          </a:xfrm>
          <a:prstGeom prst="roundRect">
            <a:avLst>
              <a:gd name="adj" fmla="val 50000"/>
            </a:avLst>
          </a:prstGeom>
          <a:solidFill>
            <a:srgbClr val="4B6C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800" b="1">
                <a:solidFill>
                  <a:srgbClr val="FFFFFF"/>
                </a:solidFill>
                <a:latin typeface="Apple SD Gothic Neo"/>
                <a:ea typeface="Apple SD Gothic Neo"/>
              </a:rPr>
              <a:t>⑤ 상품 선택 (1/2)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841248"/>
            <a:ext cx="10725912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600" b="1">
                <a:solidFill>
                  <a:srgbClr val="1A1A1A"/>
                </a:solidFill>
                <a:latin typeface="Apple SD Gothic Neo"/>
                <a:ea typeface="Apple SD Gothic Neo"/>
              </a:rPr>
              <a:t>요금제 페이지 — 플랜(상품) 명칭·금액·제공 기능 표시</a:t>
            </a:r>
          </a:p>
          <a:p>
            <a:pPr algn="ctr"/>
            <a:r>
              <a:rPr sz="1200" b="0">
                <a:solidFill>
                  <a:srgbClr val="6B7280"/>
                </a:solidFill>
                <a:latin typeface="Apple SD Gothic Neo"/>
                <a:ea typeface="Apple SD Gothic Neo"/>
              </a:rPr>
              <a:t>Free ₩0 / Pro ₩25,000 / Premium ₩49,000 (월, VAT 포함) — 유료 플랜의 '구독 시작하기' 선택 시 결제 페이지로 이동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706727" y="1481328"/>
            <a:ext cx="8778240" cy="310896"/>
          </a:xfrm>
          <a:prstGeom prst="roundRect">
            <a:avLst>
              <a:gd name="adj" fmla="val 50000"/>
            </a:avLst>
          </a:prstGeom>
          <a:solidFill>
            <a:srgbClr val="F1F3F7"/>
          </a:solidFill>
          <a:ln w="9525">
            <a:solidFill>
              <a:srgbClr val="D8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0" bIns="0"/>
          <a:lstStyle/>
          <a:p>
            <a:pPr algn="ctr"/>
            <a:r>
              <a:rPr sz="1050" b="0">
                <a:solidFill>
                  <a:srgbClr val="6B7280"/>
                </a:solidFill>
                <a:latin typeface="Apple SD Gothic Neo"/>
                <a:ea typeface="Apple SD Gothic Neo"/>
              </a:rPr>
              <a:t>경로: https://nullstock.im/pricing   ·   캡처: 2026. 7. 10. 15시 2분 3초</a:t>
            </a:r>
          </a:p>
        </p:txBody>
      </p:sp>
      <p:pic>
        <p:nvPicPr>
          <p:cNvPr id="5" name="Picture 4" descr="05_pricin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55367" y="1874519"/>
            <a:ext cx="7680960" cy="4800600"/>
          </a:xfrm>
          <a:prstGeom prst="rect">
            <a:avLst/>
          </a:prstGeom>
          <a:ln w="12700">
            <a:solidFill>
              <a:srgbClr val="C9CFDA"/>
            </a:solidFill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3992727" y="256032"/>
            <a:ext cx="4206240" cy="475488"/>
          </a:xfrm>
          <a:prstGeom prst="roundRect">
            <a:avLst>
              <a:gd name="adj" fmla="val 50000"/>
            </a:avLst>
          </a:prstGeom>
          <a:solidFill>
            <a:srgbClr val="4B6C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800" b="1">
                <a:solidFill>
                  <a:srgbClr val="FFFFFF"/>
                </a:solidFill>
                <a:latin typeface="Apple SD Gothic Neo"/>
                <a:ea typeface="Apple SD Gothic Neo"/>
              </a:rPr>
              <a:t>⑤ 구매과정 (2/2)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841248"/>
            <a:ext cx="10725912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600" b="1">
                <a:solidFill>
                  <a:srgbClr val="1A1A1A"/>
                </a:solidFill>
                <a:latin typeface="Apple SD Gothic Neo"/>
                <a:ea typeface="Apple SD Gothic Neo"/>
              </a:rPr>
              <a:t>구독 결제 페이지 — 상품명·금액·자동갱신 조건 고지</a:t>
            </a:r>
          </a:p>
          <a:p>
            <a:pPr algn="ctr"/>
            <a:r>
              <a:rPr sz="1200" b="0">
                <a:solidFill>
                  <a:srgbClr val="6B7280"/>
                </a:solidFill>
                <a:latin typeface="Apple SD Gothic Neo"/>
                <a:ea typeface="Apple SD Gothic Neo"/>
              </a:rPr>
              <a:t>월 자동결제(빌링) 조건(금액·갱신·해지 방법·환불 규정)을 고지하고 '카드 등록하고 구독 시작하기'로 진행합니다.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706727" y="1481328"/>
            <a:ext cx="8778240" cy="310896"/>
          </a:xfrm>
          <a:prstGeom prst="roundRect">
            <a:avLst>
              <a:gd name="adj" fmla="val 50000"/>
            </a:avLst>
          </a:prstGeom>
          <a:solidFill>
            <a:srgbClr val="F1F3F7"/>
          </a:solidFill>
          <a:ln w="9525">
            <a:solidFill>
              <a:srgbClr val="D8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0" bIns="0"/>
          <a:lstStyle/>
          <a:p>
            <a:pPr algn="ctr"/>
            <a:r>
              <a:rPr sz="1050" b="0">
                <a:solidFill>
                  <a:srgbClr val="6B7280"/>
                </a:solidFill>
                <a:latin typeface="Apple SD Gothic Neo"/>
                <a:ea typeface="Apple SD Gothic Neo"/>
              </a:rPr>
              <a:t>경로: https://nullstock.im/pricing/checkout?plan=PRO   ·   캡처: 2026. 7. 10. 17시 32분 43초   ·   테스트 환경</a:t>
            </a:r>
          </a:p>
        </p:txBody>
      </p:sp>
      <p:pic>
        <p:nvPicPr>
          <p:cNvPr id="5" name="Picture 4" descr="06_checkout_billin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55367" y="1874519"/>
            <a:ext cx="7680960" cy="4800600"/>
          </a:xfrm>
          <a:prstGeom prst="rect">
            <a:avLst/>
          </a:prstGeom>
          <a:ln w="12700">
            <a:solidFill>
              <a:srgbClr val="C9CFDA"/>
            </a:solidFill>
          </a:ln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3992727" y="256032"/>
            <a:ext cx="4206240" cy="475488"/>
          </a:xfrm>
          <a:prstGeom prst="roundRect">
            <a:avLst>
              <a:gd name="adj" fmla="val 50000"/>
            </a:avLst>
          </a:prstGeom>
          <a:solidFill>
            <a:srgbClr val="4B6C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800" b="1">
                <a:solidFill>
                  <a:srgbClr val="FFFFFF"/>
                </a:solidFill>
                <a:latin typeface="Apple SD Gothic Neo"/>
                <a:ea typeface="Apple SD Gothic Neo"/>
              </a:rPr>
              <a:t>⑥ 카드 결제경로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841248"/>
            <a:ext cx="10725912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600" b="1">
                <a:solidFill>
                  <a:srgbClr val="1A1A1A"/>
                </a:solidFill>
                <a:latin typeface="Apple SD Gothic Neo"/>
                <a:ea typeface="Apple SD Gothic Neo"/>
              </a:rPr>
              <a:t>정기결제용 카드 등록창 (토스페이먼츠 자동결제·빌링)</a:t>
            </a:r>
          </a:p>
          <a:p>
            <a:pPr algn="ctr"/>
            <a:r>
              <a:rPr sz="1200" b="0">
                <a:solidFill>
                  <a:srgbClr val="6B7280"/>
                </a:solidFill>
                <a:latin typeface="Apple SD Gothic Neo"/>
                <a:ea typeface="Apple SD Gothic Neo"/>
              </a:rPr>
              <a:t>카드 정보를 한 번 등록하면 첫 달 이용료가 즉시 결제되고, 이후 매월 자동 청구됩니다. (테스트용 결제창 — 실제 결제 아님)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706727" y="1481328"/>
            <a:ext cx="8778240" cy="310896"/>
          </a:xfrm>
          <a:prstGeom prst="roundRect">
            <a:avLst>
              <a:gd name="adj" fmla="val 50000"/>
            </a:avLst>
          </a:prstGeom>
          <a:solidFill>
            <a:srgbClr val="F1F3F7"/>
          </a:solidFill>
          <a:ln w="9525">
            <a:solidFill>
              <a:srgbClr val="D8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0" bIns="0"/>
          <a:lstStyle/>
          <a:p>
            <a:pPr algn="ctr"/>
            <a:r>
              <a:rPr sz="1050" b="0">
                <a:solidFill>
                  <a:srgbClr val="6B7280"/>
                </a:solidFill>
                <a:latin typeface="Apple SD Gothic Neo"/>
                <a:ea typeface="Apple SD Gothic Neo"/>
              </a:rPr>
              <a:t>경로: https://nullstock.im/pricing/checkout?plan=PRO   ·   캡처: 2026. 7. 10. 17시 32분 51초   ·   테스트용 결제창</a:t>
            </a:r>
          </a:p>
        </p:txBody>
      </p:sp>
      <p:pic>
        <p:nvPicPr>
          <p:cNvPr id="5" name="Picture 4" descr="07_billing_card_windo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55367" y="1874519"/>
            <a:ext cx="7680960" cy="4800600"/>
          </a:xfrm>
          <a:prstGeom prst="rect">
            <a:avLst/>
          </a:prstGeom>
          <a:ln w="12700">
            <a:solidFill>
              <a:srgbClr val="C9CFDA"/>
            </a:solidFill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3992727" y="256032"/>
            <a:ext cx="4206240" cy="475488"/>
          </a:xfrm>
          <a:prstGeom prst="roundRect">
            <a:avLst>
              <a:gd name="adj" fmla="val 50000"/>
            </a:avLst>
          </a:prstGeom>
          <a:solidFill>
            <a:srgbClr val="4B6C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800" b="1">
                <a:solidFill>
                  <a:srgbClr val="FFFFFF"/>
                </a:solidFill>
                <a:latin typeface="Apple SD Gothic Neo"/>
                <a:ea typeface="Apple SD Gothic Neo"/>
              </a:rPr>
              <a:t>제출 전 확인 사항 (내부용 — 제출 시 삭제)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" y="1325880"/>
            <a:ext cx="9994392" cy="4846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1A1A1A"/>
                </a:solidFill>
                <a:latin typeface="Apple SD Gothic Neo"/>
                <a:ea typeface="Apple SD Gothic Neo"/>
              </a:rPr>
              <a:t>본 파일의 캡처는 개발(테스트) 환경에서 촬영되었습니다. 결제 기능을 https://nullstock.im 에 배포한 뒤,</a:t>
            </a:r>
          </a:p>
          <a:p>
            <a:pPr algn="l"/>
            <a:r>
              <a:rPr sz="1400" b="0">
                <a:solidFill>
                  <a:srgbClr val="1A1A1A"/>
                </a:solidFill>
                <a:latin typeface="Apple SD Gothic Neo"/>
                <a:ea typeface="Apple SD Gothic Neo"/>
              </a:rPr>
              <a:t>아래 조건으로 동일 화면을 재캡처하여 교체해 주세요.</a:t>
            </a:r>
          </a:p>
          <a:p>
            <a:pPr algn="l"/>
            <a:r>
              <a:rPr sz="1300" b="1">
                <a:solidFill>
                  <a:srgbClr val="1A1A1A"/>
                </a:solidFill>
                <a:latin typeface="Apple SD Gothic Neo"/>
                <a:ea typeface="Apple SD Gothic Neo"/>
              </a:rPr>
              <a:t/>
            </a:r>
          </a:p>
          <a:p>
            <a:pPr algn="l"/>
            <a:r>
              <a:rPr sz="1300" b="0">
                <a:solidFill>
                  <a:srgbClr val="1A1A1A"/>
                </a:solidFill>
                <a:latin typeface="Apple SD Gothic Neo"/>
                <a:ea typeface="Apple SD Gothic Neo"/>
              </a:rPr>
              <a:t>  1. 브라우저 주소창(도메인 nullstock.im)이 보이도록, 북마크바 없이 캡처</a:t>
            </a:r>
          </a:p>
          <a:p>
            <a:pPr algn="l"/>
            <a:r>
              <a:rPr sz="1300" b="0">
                <a:solidFill>
                  <a:srgbClr val="1A1A1A"/>
                </a:solidFill>
                <a:latin typeface="Apple SD Gothic Neo"/>
                <a:ea typeface="Apple SD Gothic Neo"/>
              </a:rPr>
              <a:t>  2. 모든 캡처에 PC 시계(시간)가 함께 나오도록 전체 화면 캡처</a:t>
            </a:r>
          </a:p>
          <a:p>
            <a:pPr algn="l"/>
            <a:r>
              <a:rPr sz="1300" b="0">
                <a:solidFill>
                  <a:srgbClr val="1A1A1A"/>
                </a:solidFill>
                <a:latin typeface="Apple SD Gothic Neo"/>
                <a:ea typeface="Apple SD Gothic Neo"/>
              </a:rPr>
              <a:t>  3. 표지의 테스트 계정 항목 확정 (Google 소셜 로그인 — 카드사 요청 시 심사용 계정 별도 안내)</a:t>
            </a:r>
          </a:p>
          <a:p>
            <a:pPr algn="l"/>
            <a:r>
              <a:rPr sz="1300" b="0">
                <a:solidFill>
                  <a:srgbClr val="1A1A1A"/>
                </a:solidFill>
                <a:latin typeface="Apple SD Gothic Neo"/>
                <a:ea typeface="Apple SD Gothic Neo"/>
              </a:rPr>
              <a:t>  4. 하단 정보에 통신판매업신고번호 · 유선전화번호 추가 여부 확인 (토스 가이드 필수 구성 항목)</a:t>
            </a:r>
          </a:p>
          <a:p>
            <a:pPr algn="l"/>
            <a:r>
              <a:rPr sz="1300" b="0">
                <a:solidFill>
                  <a:srgbClr val="1A1A1A"/>
                </a:solidFill>
                <a:latin typeface="Apple SD Gothic Neo"/>
                <a:ea typeface="Apple SD Gothic Neo"/>
              </a:rPr>
              <a:t>  5. 라이브 전환 시 토스페이먼츠 자동결제(빌링) 계약 완료 및 라이브 키 교체 확인</a:t>
            </a:r>
          </a:p>
          <a:p>
            <a:pPr algn="l"/>
            <a:r>
              <a:rPr sz="1300" b="1">
                <a:solidFill>
                  <a:srgbClr val="1A1A1A"/>
                </a:solidFill>
                <a:latin typeface="Apple SD Gothic Neo"/>
                <a:ea typeface="Apple SD Gothic Neo"/>
              </a:rPr>
              <a:t/>
            </a:r>
          </a:p>
          <a:p>
            <a:pPr algn="l"/>
            <a:r>
              <a:rPr sz="1300" b="0">
                <a:solidFill>
                  <a:srgbClr val="6B7280"/>
                </a:solidFill>
                <a:latin typeface="Apple SD Gothic Neo"/>
                <a:ea typeface="Apple SD Gothic Neo"/>
              </a:rPr>
              <a:t>· 결제는 토스페이먼츠 자동결제(빌링) — 카드 등록 후 첫 달 즉시 결제, 이후 매월 자동 갱신, 해지 시 다음 결제일부터 미청구.</a:t>
            </a:r>
          </a:p>
          <a:p>
            <a:pPr algn="l"/>
            <a:r>
              <a:rPr sz="1300" b="0">
                <a:solidFill>
                  <a:srgbClr val="6B7280"/>
                </a:solidFill>
                <a:latin typeface="Apple SD Gothic Neo"/>
                <a:ea typeface="Apple SD Gothic Neo"/>
              </a:rPr>
              <a:t>· 환불규정은 이용약관 제12조(환불 정책)에 게시되어 있으며, 정기결제 자동 갱신·해지 조항(7·8항)을 포함합니다.</a:t>
            </a:r>
          </a:p>
          <a:p>
            <a:pPr algn="l"/>
            <a:r>
              <a:rPr sz="1300" b="0">
                <a:solidFill>
                  <a:srgbClr val="6B7280"/>
                </a:solidFill>
                <a:latin typeface="Apple SD Gothic Neo"/>
                <a:ea typeface="Apple SD Gothic Neo"/>
              </a:rPr>
              <a:t>· 테스트용 결제창으로 연동되어도 심사 가능합니다. (토스페이먼츠 가이드 기준)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